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078992"/>
            <a:ext cx="82296" cy="1975104"/>
          </a:xfrm>
          <a:prstGeom prst="rect">
            <a:avLst/>
          </a:prstGeom>
          <a:solidFill>
            <a:srgbClr val="0F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024128"/>
            <a:ext cx="82296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icrosoft YaHei"/>
              </a:rPr>
              <a:t>TrafficGraph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7830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>
                <a:solidFill>
                  <a:srgbClr val="D3E6DC"/>
                </a:solidFill>
                <a:latin typeface="Microsoft YaHei"/>
              </a:rPr>
              <a:t>上海市智慧交通指挥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2578608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4B4A4"/>
                </a:solidFill>
                <a:latin typeface="Microsoft YaHei"/>
              </a:rPr>
              <a:t>多源态势融合 · 信号优化 · 事件处置 · 数据可视化 · 智能报表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53949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智慧城市竞赛答辩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539496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89AB9A"/>
                </a:solidFill>
                <a:latin typeface="Microsoft YaHe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1E18"/>
                </a:solidFill>
                <a:latin typeface="Microsoft YaHei"/>
              </a:rPr>
              <a:t>项目背景与问题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C63"/>
                </a:solidFill>
                <a:latin typeface="Microsoft YaHei"/>
              </a:rPr>
              <a:t>交通指挥不缺少数据，缺少把数据快速变成处置判断的能力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24712"/>
            <a:ext cx="10972800" cy="16459"/>
          </a:xfrm>
          <a:prstGeom prst="rect">
            <a:avLst/>
          </a:prstGeom>
          <a:solidFill>
            <a:srgbClr val="D3D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65408" y="6345936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C63"/>
                </a:solidFill>
                <a:latin typeface="Microsoft YaHei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81328"/>
            <a:ext cx="3429000" cy="205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3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81328"/>
            <a:ext cx="54864" cy="2057400"/>
          </a:xfrm>
          <a:prstGeom prst="rect">
            <a:avLst/>
          </a:prstGeom>
          <a:solidFill>
            <a:srgbClr val="BE4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64592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E18"/>
                </a:solidFill>
                <a:latin typeface="Microsoft YaHei"/>
              </a:rPr>
              <a:t>数据分散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21408"/>
            <a:ext cx="3063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C63"/>
                </a:solidFill>
                <a:latin typeface="Microsoft YaHei"/>
              </a:rPr>
              <a:t>路网、信号、事件、警情、视频和数据报表分散在不同系统，值班人员需要反复切换查询。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81328"/>
            <a:ext cx="3429000" cy="205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3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481328"/>
            <a:ext cx="54864" cy="2057400"/>
          </a:xfrm>
          <a:prstGeom prst="rect">
            <a:avLst/>
          </a:prstGeom>
          <a:solidFill>
            <a:srgbClr val="D59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4592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E18"/>
                </a:solidFill>
                <a:latin typeface="Microsoft YaHei"/>
              </a:rPr>
              <a:t>研判依赖经验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21408"/>
            <a:ext cx="3063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C63"/>
                </a:solidFill>
                <a:latin typeface="Microsoft YaHei"/>
              </a:rPr>
              <a:t>高峰拥堵原因复杂，传统监控只能看到结果，难以快速关联饱和度、排队、配时和事件影响。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481328"/>
            <a:ext cx="3429000" cy="205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3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55864" y="1481328"/>
            <a:ext cx="54864" cy="2057400"/>
          </a:xfrm>
          <a:prstGeom prst="rect">
            <a:avLst/>
          </a:prstGeom>
          <a:solidFill>
            <a:srgbClr val="0F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164592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E18"/>
                </a:solidFill>
                <a:latin typeface="Microsoft YaHei"/>
              </a:rPr>
              <a:t>决策链路长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2121408"/>
            <a:ext cx="3063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C63"/>
                </a:solidFill>
                <a:latin typeface="Microsoft YaHei"/>
              </a:rPr>
              <a:t>从发现问题到形成处置建议需要人工汇总，缺少统一的分析、解释和报告输出链路。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977639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1E18"/>
                </a:solidFill>
                <a:latin typeface="Microsoft YaHei"/>
              </a:rPr>
              <a:t>项目目标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62272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00">
                <a:solidFill>
                  <a:srgbClr val="0F9164"/>
                </a:solidFill>
                <a:latin typeface="Microsoft YaHei"/>
              </a:rPr>
              <a:t>● </a:t>
            </a:r>
            <a:r>
              <a:rPr sz="1600">
                <a:solidFill>
                  <a:srgbClr val="2A3D33"/>
                </a:solidFill>
                <a:latin typeface="Microsoft YaHei"/>
              </a:rPr>
              <a:t>让自然语言成为交通指挥系统的统一查询入口。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0F9164"/>
                </a:solidFill>
                <a:latin typeface="Microsoft YaHei"/>
              </a:rPr>
              <a:t>● </a:t>
            </a:r>
            <a:r>
              <a:rPr sz="1600">
                <a:solidFill>
                  <a:srgbClr val="2A3D33"/>
                </a:solidFill>
                <a:latin typeface="Microsoft YaHei"/>
              </a:rPr>
              <a:t>把实时数据、专业知识、信号优化和事件处置串联到一个 Agent。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0F9164"/>
                </a:solidFill>
                <a:latin typeface="Microsoft YaHei"/>
              </a:rPr>
              <a:t>● </a:t>
            </a:r>
            <a:r>
              <a:rPr sz="1600">
                <a:solidFill>
                  <a:srgbClr val="2A3D33"/>
                </a:solidFill>
                <a:latin typeface="Microsoft YaHei"/>
              </a:rPr>
              <a:t>用一屏式控制台完成态势、诊断、建议、导出和审计。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1E18"/>
                </a:solidFill>
                <a:latin typeface="Microsoft YaHei"/>
              </a:rPr>
              <a:t>产品定位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C63"/>
                </a:solidFill>
                <a:latin typeface="Microsoft YaHei"/>
              </a:rPr>
              <a:t>面向交通指挥场景的决策辅助 Agent，而不是自动控制系统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24712"/>
            <a:ext cx="10972800" cy="16459"/>
          </a:xfrm>
          <a:prstGeom prst="rect">
            <a:avLst/>
          </a:prstGeom>
          <a:solidFill>
            <a:srgbClr val="D3D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65408" y="6345936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C63"/>
                </a:solidFill>
                <a:latin typeface="Microsoft YaHei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530352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3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63040"/>
            <a:ext cx="54864" cy="1965960"/>
          </a:xfrm>
          <a:prstGeom prst="rect">
            <a:avLst/>
          </a:prstGeom>
          <a:solidFill>
            <a:srgbClr val="0F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627632"/>
            <a:ext cx="49377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E18"/>
                </a:solidFill>
                <a:latin typeface="Microsoft YaHei"/>
              </a:rPr>
              <a:t>TrafficGraph 做什么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03120"/>
            <a:ext cx="4937759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C63"/>
                </a:solidFill>
                <a:latin typeface="Microsoft YaHei"/>
              </a:rPr>
              <a:t>理解用户意图，调用交通数据工具和专业 RAG，对全市、路口、干线、信号和事件进行分析，并生成可追溯的研判报告。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463040"/>
            <a:ext cx="530352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3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463040"/>
            <a:ext cx="54864" cy="1965960"/>
          </a:xfrm>
          <a:prstGeom prst="rect">
            <a:avLst/>
          </a:prstGeom>
          <a:solidFill>
            <a:srgbClr val="BE4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27632"/>
            <a:ext cx="49377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E18"/>
                </a:solidFill>
                <a:latin typeface="Microsoft YaHei"/>
              </a:rPr>
              <a:t>TrafficGraph 不做什么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4937759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C63"/>
                </a:solidFill>
                <a:latin typeface="Microsoft YaHei"/>
              </a:rPr>
              <a:t>不直接修改真实信号配时，不发布交通管制，不代替值班长审批。所有行动建议都保留人工确认环节。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76732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1E18"/>
                </a:solidFill>
                <a:latin typeface="Microsoft YaHei"/>
              </a:rPr>
              <a:t>四个核心工作视图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325112"/>
            <a:ext cx="2487168" cy="1143000"/>
          </a:xfrm>
          <a:prstGeom prst="roundRect">
            <a:avLst/>
          </a:prstGeom>
          <a:solidFill>
            <a:srgbClr val="14271F"/>
          </a:solidFill>
          <a:ln>
            <a:solidFill>
              <a:srgbClr val="D3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645152"/>
            <a:ext cx="21579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态势总览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02152" y="4325112"/>
            <a:ext cx="248716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3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66744" y="4645152"/>
            <a:ext cx="21579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F1E18"/>
                </a:solidFill>
                <a:latin typeface="Microsoft YaHei"/>
              </a:rPr>
              <a:t>路网监控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18504" y="4325112"/>
            <a:ext cx="248716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3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3096" y="4645152"/>
            <a:ext cx="21579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F1E18"/>
                </a:solidFill>
                <a:latin typeface="Microsoft YaHei"/>
              </a:rPr>
              <a:t>信号控制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34856" y="4325112"/>
            <a:ext cx="248716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3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9448" y="4645152"/>
            <a:ext cx="21579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F1E18"/>
                </a:solidFill>
                <a:latin typeface="Microsoft YaHei"/>
              </a:rPr>
              <a:t>事件处置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1E18"/>
                </a:solidFill>
                <a:latin typeface="Microsoft YaHei"/>
              </a:rPr>
              <a:t>系统架构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C63"/>
                </a:solidFill>
                <a:latin typeface="Microsoft YaHei"/>
              </a:rPr>
              <a:t>从自然语言请求到交通数据、工具调用、知识检索和报表输出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24712"/>
            <a:ext cx="10972800" cy="16459"/>
          </a:xfrm>
          <a:prstGeom prst="rect">
            <a:avLst/>
          </a:prstGeom>
          <a:solidFill>
            <a:srgbClr val="D3D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65408" y="6345936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C63"/>
                </a:solidFill>
                <a:latin typeface="Microsoft YaHei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548640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3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5270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E18"/>
                </a:solidFill>
                <a:latin typeface="Microsoft YaHei"/>
              </a:rPr>
              <a:t>应用层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536192"/>
            <a:ext cx="3749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C63"/>
                </a:solidFill>
                <a:latin typeface="Microsoft YaHei"/>
              </a:rPr>
              <a:t>智慧交通指挥 Web 控制台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240280"/>
            <a:ext cx="5486400" cy="713232"/>
          </a:xfrm>
          <a:prstGeom prst="roundRect">
            <a:avLst>
              <a:gd name="adj" fmla="val 4000"/>
            </a:avLst>
          </a:prstGeom>
          <a:solidFill>
            <a:srgbClr val="14271F"/>
          </a:solidFill>
          <a:ln>
            <a:solidFill>
              <a:srgbClr val="D3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35000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Agent 决策层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359152"/>
            <a:ext cx="3749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AE7E0"/>
                </a:solidFill>
                <a:latin typeface="Microsoft YaHei"/>
              </a:rPr>
              <a:t>认知解析 · 工具调度 · 报告生成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063240"/>
            <a:ext cx="548640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3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17296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E18"/>
                </a:solidFill>
                <a:latin typeface="Microsoft YaHei"/>
              </a:rPr>
              <a:t>业务 Skill 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182112"/>
            <a:ext cx="3749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C63"/>
                </a:solidFill>
                <a:latin typeface="Microsoft YaHei"/>
              </a:rPr>
              <a:t>交通专家 · 信号调度 · UI Router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886200"/>
            <a:ext cx="5486400" cy="713232"/>
          </a:xfrm>
          <a:prstGeom prst="roundRect">
            <a:avLst>
              <a:gd name="adj" fmla="val 4000"/>
            </a:avLst>
          </a:prstGeom>
          <a:solidFill>
            <a:srgbClr val="14271F"/>
          </a:solidFill>
          <a:ln>
            <a:solidFill>
              <a:srgbClr val="D3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99592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工具与数据层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005072"/>
            <a:ext cx="3749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AE7E0"/>
                </a:solidFill>
                <a:latin typeface="Microsoft YaHei"/>
              </a:rPr>
              <a:t>12 个交通数据工具 · TrafficSim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709160"/>
            <a:ext cx="548640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3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481888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E18"/>
                </a:solidFill>
                <a:latin typeface="Microsoft YaHei"/>
              </a:rPr>
              <a:t>知识基础设施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828032"/>
            <a:ext cx="3749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C63"/>
                </a:solidFill>
                <a:latin typeface="Microsoft YaHei"/>
              </a:rPr>
              <a:t>ChromaDB RAG · 长期记忆 · 审计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14173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1E18"/>
                </a:solidFill>
                <a:latin typeface="Microsoft YaHei"/>
              </a:rPr>
              <a:t>技术栈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1993392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00">
                <a:solidFill>
                  <a:srgbClr val="0F9164"/>
                </a:solidFill>
                <a:latin typeface="Microsoft YaHei"/>
              </a:rPr>
              <a:t>● </a:t>
            </a:r>
            <a:r>
              <a:rPr sz="1500">
                <a:solidFill>
                  <a:srgbClr val="2A3D33"/>
                </a:solidFill>
                <a:latin typeface="Microsoft YaHei"/>
              </a:rPr>
              <a:t>LangGraph：Agent 状态图和工具循环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0F9164"/>
                </a:solidFill>
                <a:latin typeface="Microsoft YaHei"/>
              </a:rPr>
              <a:t>● </a:t>
            </a:r>
            <a:r>
              <a:rPr sz="1500">
                <a:solidFill>
                  <a:srgbClr val="2A3D33"/>
                </a:solidFill>
                <a:latin typeface="Microsoft YaHei"/>
              </a:rPr>
              <a:t>FastAPI + Uvicorn：API 与 SSE 流式服务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0F9164"/>
                </a:solidFill>
                <a:latin typeface="Microsoft YaHei"/>
              </a:rPr>
              <a:t>● </a:t>
            </a:r>
            <a:r>
              <a:rPr sz="1500">
                <a:solidFill>
                  <a:srgbClr val="2A3D33"/>
                </a:solidFill>
                <a:latin typeface="Microsoft YaHei"/>
              </a:rPr>
              <a:t>Pydantic：工具输入输出与强类型契约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0F9164"/>
                </a:solidFill>
                <a:latin typeface="Microsoft YaHei"/>
              </a:rPr>
              <a:t>● </a:t>
            </a:r>
            <a:r>
              <a:rPr sz="1500">
                <a:solidFill>
                  <a:srgbClr val="2A3D33"/>
                </a:solidFill>
                <a:latin typeface="Microsoft YaHei"/>
              </a:rPr>
              <a:t>ChromaDB：交通专业知识库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0F9164"/>
                </a:solidFill>
                <a:latin typeface="Microsoft YaHei"/>
              </a:rPr>
              <a:t>● </a:t>
            </a:r>
            <a:r>
              <a:rPr sz="1500">
                <a:solidFill>
                  <a:srgbClr val="2A3D33"/>
                </a:solidFill>
                <a:latin typeface="Microsoft YaHei"/>
              </a:rPr>
              <a:t>TrafficSim：确定性交通仿真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0F9164"/>
                </a:solidFill>
                <a:latin typeface="Microsoft YaHei"/>
              </a:rPr>
              <a:t>● </a:t>
            </a:r>
            <a:r>
              <a:rPr sz="1500">
                <a:solidFill>
                  <a:srgbClr val="2A3D33"/>
                </a:solidFill>
                <a:latin typeface="Microsoft YaHei"/>
              </a:rPr>
              <a:t>原生 Web + SVG：一屏式中控台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1E18"/>
                </a:solidFill>
                <a:latin typeface="Microsoft YaHei"/>
              </a:rPr>
              <a:t>Agent 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C63"/>
                </a:solidFill>
                <a:latin typeface="Microsoft YaHei"/>
              </a:rPr>
              <a:t>认知解析、工具调度、技能编排、报告生成和动作确认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24712"/>
            <a:ext cx="10972800" cy="16459"/>
          </a:xfrm>
          <a:prstGeom prst="rect">
            <a:avLst/>
          </a:prstGeom>
          <a:solidFill>
            <a:srgbClr val="D3D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65408" y="6345936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C63"/>
                </a:solidFill>
                <a:latin typeface="Microsoft YaHei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47088"/>
            <a:ext cx="196596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D3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0574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9164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54203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E18"/>
                </a:solidFill>
                <a:latin typeface="Microsoft YaHei"/>
              </a:rPr>
              <a:t>意图理解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035808"/>
            <a:ext cx="1627632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C63"/>
                </a:solidFill>
                <a:latin typeface="Microsoft YaHei"/>
              </a:rPr>
              <a:t>识别数据查询、专业问答、页面查看或报表导出意图</a:t>
            </a:r>
          </a:p>
        </p:txBody>
      </p:sp>
      <p:sp>
        <p:nvSpPr>
          <p:cNvPr id="10" name="Chevron 9"/>
          <p:cNvSpPr/>
          <p:nvPr/>
        </p:nvSpPr>
        <p:spPr>
          <a:xfrm>
            <a:off x="2660904" y="3026664"/>
            <a:ext cx="256032" cy="310896"/>
          </a:xfrm>
          <a:prstGeom prst="chevron">
            <a:avLst/>
          </a:prstGeom>
          <a:solidFill>
            <a:srgbClr val="0F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71800" y="1847088"/>
            <a:ext cx="196596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D3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36392" y="20574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9164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254203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E18"/>
                </a:solidFill>
                <a:latin typeface="Microsoft YaHei"/>
              </a:rPr>
              <a:t>工具选择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6392" y="3035808"/>
            <a:ext cx="1627632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C63"/>
                </a:solidFill>
                <a:latin typeface="Microsoft YaHei"/>
              </a:rPr>
              <a:t>从 12 个交通数据工具和知识工具中选择最少必要调用</a:t>
            </a:r>
          </a:p>
        </p:txBody>
      </p:sp>
      <p:sp>
        <p:nvSpPr>
          <p:cNvPr id="15" name="Chevron 14"/>
          <p:cNvSpPr/>
          <p:nvPr/>
        </p:nvSpPr>
        <p:spPr>
          <a:xfrm>
            <a:off x="4946904" y="3026664"/>
            <a:ext cx="256032" cy="310896"/>
          </a:xfrm>
          <a:prstGeom prst="chevron">
            <a:avLst/>
          </a:prstGeom>
          <a:solidFill>
            <a:srgbClr val="0F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57800" y="1847088"/>
            <a:ext cx="196596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D3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22392" y="20574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9164"/>
                </a:solidFill>
                <a:latin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2392" y="254203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E18"/>
                </a:solidFill>
                <a:latin typeface="Microsoft YaHei"/>
              </a:rPr>
              <a:t>技能编排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22392" y="3035808"/>
            <a:ext cx="1627632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C63"/>
                </a:solidFill>
                <a:latin typeface="Microsoft YaHei"/>
              </a:rPr>
              <a:t>交通专家、信号调度和 UI Router 统一处理结果</a:t>
            </a:r>
          </a:p>
        </p:txBody>
      </p:sp>
      <p:sp>
        <p:nvSpPr>
          <p:cNvPr id="20" name="Chevron 19"/>
          <p:cNvSpPr/>
          <p:nvPr/>
        </p:nvSpPr>
        <p:spPr>
          <a:xfrm>
            <a:off x="7232904" y="3026664"/>
            <a:ext cx="256032" cy="310896"/>
          </a:xfrm>
          <a:prstGeom prst="chevron">
            <a:avLst/>
          </a:prstGeom>
          <a:solidFill>
            <a:srgbClr val="0F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43800" y="1847088"/>
            <a:ext cx="196596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D3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08392" y="20574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9164"/>
                </a:solidFill>
                <a:latin typeface="Microsoft YaHe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8392" y="254203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E18"/>
                </a:solidFill>
                <a:latin typeface="Microsoft YaHei"/>
              </a:rPr>
              <a:t>研判报告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08392" y="3035808"/>
            <a:ext cx="1627632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C63"/>
                </a:solidFill>
                <a:latin typeface="Microsoft YaHei"/>
              </a:rPr>
              <a:t>结合实时数据、知识来源和安全约束生成 Markdown</a:t>
            </a:r>
          </a:p>
        </p:txBody>
      </p:sp>
      <p:sp>
        <p:nvSpPr>
          <p:cNvPr id="25" name="Chevron 24"/>
          <p:cNvSpPr/>
          <p:nvPr/>
        </p:nvSpPr>
        <p:spPr>
          <a:xfrm>
            <a:off x="9518904" y="3026664"/>
            <a:ext cx="256032" cy="310896"/>
          </a:xfrm>
          <a:prstGeom prst="chevron">
            <a:avLst/>
          </a:prstGeom>
          <a:solidFill>
            <a:srgbClr val="0F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829800" y="1847088"/>
            <a:ext cx="196596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D3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94392" y="20574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9164"/>
                </a:solidFill>
                <a:latin typeface="Microsoft YaHe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94392" y="254203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E18"/>
                </a:solidFill>
                <a:latin typeface="Microsoft YaHei"/>
              </a:rPr>
              <a:t>人工确认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94392" y="3035808"/>
            <a:ext cx="1627632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C63"/>
                </a:solidFill>
                <a:latin typeface="Microsoft YaHei"/>
              </a:rPr>
              <a:t>页面动作只提示，不自动覆盖当前指挥视图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1E18"/>
                </a:solidFill>
                <a:latin typeface="Microsoft YaHei"/>
              </a:rPr>
              <a:t>12 个交通数据工具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C63"/>
                </a:solidFill>
                <a:latin typeface="Microsoft YaHei"/>
              </a:rPr>
              <a:t>将交通业务能力标准化为 Agent 可调度的工具契约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24712"/>
            <a:ext cx="10972800" cy="16459"/>
          </a:xfrm>
          <a:prstGeom prst="rect">
            <a:avLst/>
          </a:prstGeom>
          <a:solidFill>
            <a:srgbClr val="D3D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65408" y="6345936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C63"/>
                </a:solidFill>
                <a:latin typeface="Microsoft YaHei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5780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3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4864" cy="640080"/>
          </a:xfrm>
          <a:prstGeom prst="rect">
            <a:avLst/>
          </a:prstGeom>
          <a:solidFill>
            <a:srgbClr val="D59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81912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E18"/>
                </a:solidFill>
                <a:latin typeface="Microsoft YaHei"/>
              </a:rPr>
              <a:t>全市态势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57400"/>
            <a:ext cx="4892040" cy="-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C63"/>
                </a:solidFill>
                <a:latin typeface="Microsoft YaHei"/>
              </a:rPr>
              <a:t>拥堵指数、车速、Top5、事件数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417320"/>
            <a:ext cx="525780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3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417320"/>
            <a:ext cx="54864" cy="640080"/>
          </a:xfrm>
          <a:prstGeom prst="rect">
            <a:avLst/>
          </a:prstGeom>
          <a:solidFill>
            <a:srgbClr val="0F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7" y="1581912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E18"/>
                </a:solidFill>
                <a:latin typeface="Microsoft YaHei"/>
              </a:rPr>
              <a:t>路口状态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7" y="2057400"/>
            <a:ext cx="4892040" cy="-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C63"/>
                </a:solidFill>
                <a:latin typeface="Microsoft YaHei"/>
              </a:rPr>
              <a:t>LOS、饱和度、排队、延误、相位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212848"/>
            <a:ext cx="525780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3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212848"/>
            <a:ext cx="54864" cy="640080"/>
          </a:xfrm>
          <a:prstGeom prst="rect">
            <a:avLst/>
          </a:prstGeom>
          <a:solidFill>
            <a:srgbClr val="0F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37744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E18"/>
                </a:solidFill>
                <a:latin typeface="Microsoft YaHei"/>
              </a:rPr>
              <a:t>干线绿波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852928"/>
            <a:ext cx="4892040" cy="-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C63"/>
                </a:solidFill>
                <a:latin typeface="Microsoft YaHei"/>
              </a:rPr>
              <a:t>车速、带宽、相位差、协调状态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2212848"/>
            <a:ext cx="525780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3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2212848"/>
            <a:ext cx="54864" cy="640080"/>
          </a:xfrm>
          <a:prstGeom prst="rect">
            <a:avLst/>
          </a:prstGeom>
          <a:solidFill>
            <a:srgbClr val="D59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7" y="237744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E18"/>
                </a:solidFill>
                <a:latin typeface="Microsoft YaHei"/>
              </a:rPr>
              <a:t>辖区指数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7" y="2852928"/>
            <a:ext cx="4892040" cy="-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C63"/>
                </a:solidFill>
                <a:latin typeface="Microsoft YaHei"/>
              </a:rPr>
              <a:t>排名、趋势、最堵路口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008376"/>
            <a:ext cx="525780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3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008376"/>
            <a:ext cx="54864" cy="640080"/>
          </a:xfrm>
          <a:prstGeom prst="rect">
            <a:avLst/>
          </a:prstGeom>
          <a:solidFill>
            <a:srgbClr val="0F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172968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E18"/>
                </a:solidFill>
                <a:latin typeface="Microsoft YaHei"/>
              </a:rPr>
              <a:t>信号配时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648456"/>
            <a:ext cx="4892040" cy="-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C63"/>
                </a:solidFill>
                <a:latin typeface="Microsoft YaHei"/>
              </a:rPr>
              <a:t>周期、相位绿灯、黄灯、offset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3008376"/>
            <a:ext cx="525780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3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59" y="3008376"/>
            <a:ext cx="54864" cy="640080"/>
          </a:xfrm>
          <a:prstGeom prst="rect">
            <a:avLst/>
          </a:prstGeom>
          <a:solidFill>
            <a:srgbClr val="0F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7" y="3172968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E18"/>
                </a:solidFill>
                <a:latin typeface="Microsoft YaHei"/>
              </a:rPr>
              <a:t>信号优化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7" y="3648456"/>
            <a:ext cx="4892040" cy="-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C63"/>
                </a:solidFill>
                <a:latin typeface="Microsoft YaHei"/>
              </a:rPr>
              <a:t>Webster 周期、绿信比、安全约束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803904"/>
            <a:ext cx="525780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3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3803904"/>
            <a:ext cx="54864" cy="640080"/>
          </a:xfrm>
          <a:prstGeom prst="rect">
            <a:avLst/>
          </a:prstGeom>
          <a:solidFill>
            <a:srgbClr val="D59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3968496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E18"/>
                </a:solidFill>
                <a:latin typeface="Microsoft YaHei"/>
              </a:rPr>
              <a:t>流量历史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4443984"/>
            <a:ext cx="4892040" cy="-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C63"/>
                </a:solidFill>
                <a:latin typeface="Microsoft YaHei"/>
              </a:rPr>
              <a:t>路口/干线逐时流量与车速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59" y="3803904"/>
            <a:ext cx="525780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3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59" y="3803904"/>
            <a:ext cx="54864" cy="640080"/>
          </a:xfrm>
          <a:prstGeom prst="rect">
            <a:avLst/>
          </a:prstGeom>
          <a:solidFill>
            <a:srgbClr val="0F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0527" y="3968496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E18"/>
                </a:solidFill>
                <a:latin typeface="Microsoft YaHei"/>
              </a:rPr>
              <a:t>活跃事件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0527" y="4443984"/>
            <a:ext cx="4892040" cy="-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C63"/>
                </a:solidFill>
                <a:latin typeface="Microsoft YaHei"/>
              </a:rPr>
              <a:t>事故、抛锚、施工、管制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599432"/>
            <a:ext cx="525780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3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1520" y="4599432"/>
            <a:ext cx="54864" cy="640080"/>
          </a:xfrm>
          <a:prstGeom prst="rect">
            <a:avLst/>
          </a:prstGeom>
          <a:solidFill>
            <a:srgbClr val="0F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4764024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E18"/>
                </a:solidFill>
                <a:latin typeface="Microsoft YaHei"/>
              </a:rPr>
              <a:t>历史事件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239512"/>
            <a:ext cx="4892040" cy="-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C63"/>
                </a:solidFill>
                <a:latin typeface="Microsoft YaHei"/>
              </a:rPr>
              <a:t>处置时长、派单号、恢复状态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59" y="4599432"/>
            <a:ext cx="525780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3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09359" y="4599432"/>
            <a:ext cx="54864" cy="640080"/>
          </a:xfrm>
          <a:prstGeom prst="rect">
            <a:avLst/>
          </a:prstGeom>
          <a:solidFill>
            <a:srgbClr val="D59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10527" y="4764024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E18"/>
                </a:solidFill>
                <a:latin typeface="Microsoft YaHei"/>
              </a:rPr>
              <a:t>视频监控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10527" y="5239512"/>
            <a:ext cx="4892040" cy="-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C63"/>
                </a:solidFill>
                <a:latin typeface="Microsoft YaHei"/>
              </a:rPr>
              <a:t>摄像头清单、状态、预置位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5394959"/>
            <a:ext cx="525780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3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31520" y="5394959"/>
            <a:ext cx="54864" cy="640080"/>
          </a:xfrm>
          <a:prstGeom prst="rect">
            <a:avLst/>
          </a:prstGeom>
          <a:solidFill>
            <a:srgbClr val="0F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" y="5559551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E18"/>
                </a:solidFill>
                <a:latin typeface="Microsoft YaHei"/>
              </a:rPr>
              <a:t>派单调度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" y="6035040"/>
            <a:ext cx="4892040" cy="-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C63"/>
                </a:solidFill>
                <a:latin typeface="Microsoft YaHei"/>
              </a:rPr>
              <a:t>警力、拖车、到场时间、结果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09359" y="5394959"/>
            <a:ext cx="525780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3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09359" y="5394959"/>
            <a:ext cx="54864" cy="640080"/>
          </a:xfrm>
          <a:prstGeom prst="rect">
            <a:avLst/>
          </a:prstGeom>
          <a:solidFill>
            <a:srgbClr val="0F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10527" y="5559551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E18"/>
                </a:solidFill>
                <a:latin typeface="Microsoft YaHei"/>
              </a:rPr>
              <a:t>接处警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10527" y="6035040"/>
            <a:ext cx="4892040" cy="-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C63"/>
                </a:solidFill>
                <a:latin typeface="Microsoft YaHei"/>
              </a:rPr>
              <a:t>110、122、热线、视频识别记录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1E18"/>
                </a:solidFill>
                <a:latin typeface="Microsoft YaHei"/>
              </a:rPr>
              <a:t>交通专业知识与记忆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C63"/>
                </a:solidFill>
                <a:latin typeface="Microsoft YaHei"/>
              </a:rPr>
              <a:t>让回答有依据，让对话有上下文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24712"/>
            <a:ext cx="10972800" cy="16459"/>
          </a:xfrm>
          <a:prstGeom prst="rect">
            <a:avLst/>
          </a:prstGeom>
          <a:solidFill>
            <a:srgbClr val="D3D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65408" y="6345936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C63"/>
                </a:solidFill>
                <a:latin typeface="Microsoft YaHei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429000" cy="3886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3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4864" cy="3886200"/>
          </a:xfrm>
          <a:prstGeom prst="rect">
            <a:avLst/>
          </a:prstGeom>
          <a:solidFill>
            <a:srgbClr val="0F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673351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E18"/>
                </a:solidFill>
                <a:latin typeface="Microsoft YaHei"/>
              </a:rPr>
              <a:t>L1 会话记忆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48839"/>
            <a:ext cx="30632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C63"/>
                </a:solidFill>
                <a:latin typeface="Microsoft YaHei"/>
              </a:rPr>
              <a:t>LangGraph checkpoint 按 thread_id 隔离，支持多轮对话恢复。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508760"/>
            <a:ext cx="3429000" cy="3886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3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508760"/>
            <a:ext cx="54864" cy="3886200"/>
          </a:xfrm>
          <a:prstGeom prst="rect">
            <a:avLst/>
          </a:prstGeom>
          <a:solidFill>
            <a:srgbClr val="D59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73351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E18"/>
                </a:solidFill>
                <a:latin typeface="Microsoft YaHei"/>
              </a:rPr>
              <a:t>L2 长期记忆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48839"/>
            <a:ext cx="30632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C63"/>
                </a:solidFill>
                <a:latin typeface="Microsoft YaHei"/>
              </a:rPr>
              <a:t>按环境、区域、Agent 和记忆范围隔离，临时状态强制设置 TTL。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508760"/>
            <a:ext cx="3429000" cy="3886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3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55864" y="1508760"/>
            <a:ext cx="54864" cy="3886200"/>
          </a:xfrm>
          <a:prstGeom prst="rect">
            <a:avLst/>
          </a:prstGeom>
          <a:solidFill>
            <a:srgbClr val="0F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1673351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E18"/>
                </a:solidFill>
                <a:latin typeface="Microsoft YaHei"/>
              </a:rPr>
              <a:t>L3 知识检索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2148839"/>
            <a:ext cx="30632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C63"/>
                </a:solidFill>
                <a:latin typeface="Microsoft YaHei"/>
              </a:rPr>
              <a:t>ChromaDB 存储交通规范、信号控制、绿波、事件处置和调度流程。支持离线 hashing，也支持 BGE。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006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E18"/>
                </a:solidFill>
                <a:latin typeface="Microsoft YaHei"/>
              </a:rPr>
              <a:t>低置信度不猜测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1208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C63"/>
                </a:solidFill>
                <a:latin typeface="Microsoft YaHei"/>
              </a:rPr>
              <a:t>检索置信度不足时触发拒答，并提示用户补充对象、时间或规范方向。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1E18"/>
                </a:solidFill>
                <a:latin typeface="Microsoft YaHei"/>
              </a:rPr>
              <a:t>一屏式智慧交通中控台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C63"/>
                </a:solidFill>
                <a:latin typeface="Microsoft YaHei"/>
              </a:rPr>
              <a:t>四个独立工作视图，点击切换，不依赖长页面滚动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24712"/>
            <a:ext cx="10972800" cy="16459"/>
          </a:xfrm>
          <a:prstGeom prst="rect">
            <a:avLst/>
          </a:prstGeom>
          <a:solidFill>
            <a:srgbClr val="D3D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65408" y="6345936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C63"/>
                </a:solidFill>
                <a:latin typeface="Microsoft YaHei"/>
              </a:rPr>
              <a:t>08</a:t>
            </a:r>
          </a:p>
        </p:txBody>
      </p:sp>
      <p:pic>
        <p:nvPicPr>
          <p:cNvPr id="6" name="Picture 5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60480"/>
            <a:ext cx="7635240" cy="42948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66760" y="1554480"/>
            <a:ext cx="3246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900">
                <a:solidFill>
                  <a:srgbClr val="0F9164"/>
                </a:solidFill>
                <a:latin typeface="Microsoft YaHei"/>
              </a:rPr>
              <a:t>● </a:t>
            </a:r>
            <a:r>
              <a:rPr sz="1400">
                <a:solidFill>
                  <a:srgbClr val="2A3D33"/>
                </a:solidFill>
                <a:latin typeface="Microsoft YaHei"/>
              </a:rPr>
              <a:t>左侧固定导航，点击切换态势、路网、信号和事件。</a:t>
            </a:r>
          </a:p>
          <a:p>
            <a:pPr>
              <a:spcAft>
                <a:spcPts val="700"/>
              </a:spcAft>
            </a:pPr>
            <a:r>
              <a:rPr sz="900">
                <a:solidFill>
                  <a:srgbClr val="0F9164"/>
                </a:solidFill>
                <a:latin typeface="Microsoft YaHei"/>
              </a:rPr>
              <a:t>● </a:t>
            </a:r>
            <a:r>
              <a:rPr sz="1400">
                <a:solidFill>
                  <a:srgbClr val="2A3D33"/>
                </a:solidFill>
                <a:latin typeface="Microsoft YaHei"/>
              </a:rPr>
              <a:t>中间工作区独立布局，右侧 Agent 固定，不带动主页面跳转。</a:t>
            </a:r>
          </a:p>
          <a:p>
            <a:pPr>
              <a:spcAft>
                <a:spcPts val="700"/>
              </a:spcAft>
            </a:pPr>
            <a:r>
              <a:rPr sz="900">
                <a:solidFill>
                  <a:srgbClr val="0F9164"/>
                </a:solidFill>
                <a:latin typeface="Microsoft YaHei"/>
              </a:rPr>
              <a:t>● </a:t>
            </a:r>
            <a:r>
              <a:rPr sz="1400">
                <a:solidFill>
                  <a:srgbClr val="2A3D33"/>
                </a:solidFill>
                <a:latin typeface="Microsoft YaHei"/>
              </a:rPr>
              <a:t>路网节点支持路口探查和诊断。</a:t>
            </a:r>
          </a:p>
          <a:p>
            <a:pPr>
              <a:spcAft>
                <a:spcPts val="700"/>
              </a:spcAft>
            </a:pPr>
            <a:r>
              <a:rPr sz="900">
                <a:solidFill>
                  <a:srgbClr val="0F9164"/>
                </a:solidFill>
                <a:latin typeface="Microsoft YaHei"/>
              </a:rPr>
              <a:t>● </a:t>
            </a:r>
            <a:r>
              <a:rPr sz="1400">
                <a:solidFill>
                  <a:srgbClr val="2A3D33"/>
                </a:solidFill>
                <a:latin typeface="Microsoft YaHei"/>
              </a:rPr>
              <a:t>浅色高对比数据面板保证投屏可读性。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1E18"/>
                </a:solidFill>
                <a:latin typeface="Microsoft YaHei"/>
              </a:rPr>
              <a:t>信号控制与事件处置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C63"/>
                </a:solidFill>
                <a:latin typeface="Microsoft YaHei"/>
              </a:rPr>
              <a:t>从实时运行状态到优化建议和处置时间线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24712"/>
            <a:ext cx="10972800" cy="16459"/>
          </a:xfrm>
          <a:prstGeom prst="rect">
            <a:avLst/>
          </a:prstGeom>
          <a:solidFill>
            <a:srgbClr val="D3D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65408" y="6345936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C63"/>
                </a:solidFill>
                <a:latin typeface="Microsoft YaHei"/>
              </a:rPr>
              <a:t>09</a:t>
            </a:r>
          </a:p>
        </p:txBody>
      </p:sp>
      <p:pic>
        <p:nvPicPr>
          <p:cNvPr id="6" name="Picture 5" descr="sign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33111"/>
            <a:ext cx="5532120" cy="3111817"/>
          </a:xfrm>
          <a:prstGeom prst="rect">
            <a:avLst/>
          </a:prstGeom>
        </p:spPr>
      </p:pic>
      <p:pic>
        <p:nvPicPr>
          <p:cNvPr id="7" name="Picture 6" descr="incid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2045969"/>
            <a:ext cx="5486400" cy="30861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9893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9164"/>
                </a:solidFill>
                <a:latin typeface="Microsoft YaHei"/>
              </a:rPr>
              <a:t>信号控制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59893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5911F"/>
                </a:solidFill>
                <a:latin typeface="Microsoft YaHei"/>
              </a:rPr>
              <a:t>事件处置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1E18"/>
                </a:solidFill>
                <a:latin typeface="Microsoft YaHei"/>
              </a:rPr>
              <a:t>数据可视化与智能报表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C63"/>
                </a:solidFill>
                <a:latin typeface="Microsoft YaHei"/>
              </a:rPr>
              <a:t>同一份数据同时生成表格、图表和 CSV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24712"/>
            <a:ext cx="10972800" cy="16459"/>
          </a:xfrm>
          <a:prstGeom prst="rect">
            <a:avLst/>
          </a:prstGeom>
          <a:solidFill>
            <a:srgbClr val="D3D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65408" y="6345936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C63"/>
                </a:solidFill>
                <a:latin typeface="Microsoft YaHei"/>
              </a:rPr>
              <a:t>10</a:t>
            </a:r>
          </a:p>
        </p:txBody>
      </p:sp>
      <p:pic>
        <p:nvPicPr>
          <p:cNvPr id="6" name="Picture 5" descr="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1628"/>
            <a:ext cx="7635240" cy="42948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66760" y="160020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900">
                <a:solidFill>
                  <a:srgbClr val="0F9164"/>
                </a:solidFill>
                <a:latin typeface="Microsoft YaHei"/>
              </a:rPr>
              <a:t>● </a:t>
            </a:r>
            <a:r>
              <a:rPr sz="1400">
                <a:solidFill>
                  <a:srgbClr val="2A3D33"/>
                </a:solidFill>
                <a:latin typeface="Microsoft YaHei"/>
              </a:rPr>
              <a:t>支持柱状图、折线图和环形图。</a:t>
            </a:r>
          </a:p>
          <a:p>
            <a:pPr>
              <a:spcAft>
                <a:spcPts val="700"/>
              </a:spcAft>
            </a:pPr>
            <a:r>
              <a:rPr sz="900">
                <a:solidFill>
                  <a:srgbClr val="0F9164"/>
                </a:solidFill>
                <a:latin typeface="Microsoft YaHei"/>
              </a:rPr>
              <a:t>● </a:t>
            </a:r>
            <a:r>
              <a:rPr sz="1400">
                <a:solidFill>
                  <a:srgbClr val="2A3D33"/>
                </a:solidFill>
                <a:latin typeface="Microsoft YaHei"/>
              </a:rPr>
              <a:t>当前工作区可一键导出报告。</a:t>
            </a:r>
          </a:p>
          <a:p>
            <a:pPr>
              <a:spcAft>
                <a:spcPts val="700"/>
              </a:spcAft>
            </a:pPr>
            <a:r>
              <a:rPr sz="900">
                <a:solidFill>
                  <a:srgbClr val="0F9164"/>
                </a:solidFill>
                <a:latin typeface="Microsoft YaHei"/>
              </a:rPr>
              <a:t>● </a:t>
            </a:r>
            <a:r>
              <a:rPr sz="1400">
                <a:solidFill>
                  <a:srgbClr val="2A3D33"/>
                </a:solidFill>
                <a:latin typeface="Microsoft YaHei"/>
              </a:rPr>
              <a:t>CSV 使用 UTF-8 BOM，可直接用 Excel 打开。</a:t>
            </a:r>
          </a:p>
          <a:p>
            <a:pPr>
              <a:spcAft>
                <a:spcPts val="700"/>
              </a:spcAft>
            </a:pPr>
            <a:r>
              <a:rPr sz="900">
                <a:solidFill>
                  <a:srgbClr val="0F9164"/>
                </a:solidFill>
                <a:latin typeface="Microsoft YaHei"/>
              </a:rPr>
              <a:t>● </a:t>
            </a:r>
            <a:r>
              <a:rPr sz="1400">
                <a:solidFill>
                  <a:srgbClr val="2A3D33"/>
                </a:solidFill>
                <a:latin typeface="Microsoft YaHei"/>
              </a:rPr>
              <a:t>Agent 返回的数据卡片也可在对话中直接渲染图表。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1E18"/>
                </a:solidFill>
                <a:latin typeface="Microsoft YaHei"/>
              </a:rPr>
              <a:t>工程实现与安全边界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C63"/>
                </a:solidFill>
                <a:latin typeface="Microsoft YaHei"/>
              </a:rPr>
              <a:t>可演示、可复现、可扩展、不可越权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24712"/>
            <a:ext cx="10972800" cy="16459"/>
          </a:xfrm>
          <a:prstGeom prst="rect">
            <a:avLst/>
          </a:prstGeom>
          <a:solidFill>
            <a:srgbClr val="D3D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65408" y="6345936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C63"/>
                </a:solidFill>
                <a:latin typeface="Microsoft YaHe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3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63040"/>
            <a:ext cx="54864" cy="1828800"/>
          </a:xfrm>
          <a:prstGeom prst="rect">
            <a:avLst/>
          </a:prstGeom>
          <a:solidFill>
            <a:srgbClr val="0F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62763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E18"/>
                </a:solidFill>
                <a:latin typeface="Microsoft YaHei"/>
              </a:rPr>
              <a:t>确定性仿真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03120"/>
            <a:ext cx="30632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C63"/>
                </a:solidFill>
                <a:latin typeface="Microsoft YaHei"/>
              </a:rPr>
              <a:t>相同日期、对象和数据类型产生稳定结果，适合现场演示和回归测试。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6304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3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463040"/>
            <a:ext cx="54864" cy="1828800"/>
          </a:xfrm>
          <a:prstGeom prst="rect">
            <a:avLst/>
          </a:prstGeom>
          <a:solidFill>
            <a:srgbClr val="D59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2763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E18"/>
                </a:solidFill>
                <a:latin typeface="Microsoft YaHei"/>
              </a:rPr>
              <a:t>流式交互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03120"/>
            <a:ext cx="30632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C63"/>
                </a:solidFill>
                <a:latin typeface="Microsoft YaHei"/>
              </a:rPr>
              <a:t>SSE 推送 thinking、tool_call、tool_result、rag_sources、text、action 和 data_card。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46304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3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55864" y="1463040"/>
            <a:ext cx="54864" cy="1828800"/>
          </a:xfrm>
          <a:prstGeom prst="rect">
            <a:avLst/>
          </a:prstGeom>
          <a:solidFill>
            <a:srgbClr val="0F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162763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E18"/>
                </a:solidFill>
                <a:latin typeface="Microsoft YaHei"/>
              </a:rPr>
              <a:t>强类型契约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2103120"/>
            <a:ext cx="30632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C63"/>
                </a:solidFill>
                <a:latin typeface="Microsoft YaHei"/>
              </a:rPr>
              <a:t>Pydantic 定义交通数据、工具输出、UI 动作和记忆元数据。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749039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1E18"/>
                </a:solidFill>
                <a:latin typeface="Microsoft YaHei"/>
              </a:rPr>
              <a:t>安全边界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24528"/>
            <a:ext cx="10789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00">
                <a:solidFill>
                  <a:srgbClr val="BE4034"/>
                </a:solidFill>
                <a:latin typeface="Microsoft YaHei"/>
              </a:rPr>
              <a:t>● </a:t>
            </a:r>
            <a:r>
              <a:rPr sz="1500">
                <a:solidFill>
                  <a:srgbClr val="2A3D33"/>
                </a:solidFill>
                <a:latin typeface="Microsoft YaHei"/>
              </a:rPr>
              <a:t>Agent 只能查询、分析和建议，不能直接控制真实信号。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BE4034"/>
                </a:solidFill>
                <a:latin typeface="Microsoft YaHei"/>
              </a:rPr>
              <a:t>● </a:t>
            </a:r>
            <a:r>
              <a:rPr sz="1500">
                <a:solidFill>
                  <a:srgbClr val="2A3D33"/>
                </a:solidFill>
                <a:latin typeface="Microsoft YaHei"/>
              </a:rPr>
              <a:t>配时建议必须校验最小绿灯、行人过街和协调同步。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BE4034"/>
                </a:solidFill>
                <a:latin typeface="Microsoft YaHei"/>
              </a:rPr>
              <a:t>● </a:t>
            </a:r>
            <a:r>
              <a:rPr sz="1500">
                <a:solidFill>
                  <a:srgbClr val="2A3D33"/>
                </a:solidFill>
                <a:latin typeface="Microsoft YaHei"/>
              </a:rPr>
              <a:t>页面动作需要人工确认，不自动执行。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BE4034"/>
                </a:solidFill>
                <a:latin typeface="Microsoft YaHei"/>
              </a:rPr>
              <a:t>● </a:t>
            </a:r>
            <a:r>
              <a:rPr sz="1500">
                <a:solidFill>
                  <a:srgbClr val="2A3D33"/>
                </a:solidFill>
                <a:latin typeface="Microsoft YaHei"/>
              </a:rPr>
              <a:t>本地密钥只放在被忽略的 .env 文件中。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项目亮点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389888"/>
            <a:ext cx="475488" cy="475488"/>
          </a:xfrm>
          <a:prstGeom prst="roundRect">
            <a:avLst/>
          </a:prstGeom>
          <a:solidFill>
            <a:srgbClr val="0F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53896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1328" y="1371600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真实业务链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380744"/>
            <a:ext cx="74980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CD3C6"/>
                </a:solidFill>
                <a:latin typeface="Microsoft YaHei"/>
              </a:rPr>
              <a:t>从态势、路口、信号到事件和调度形成完整闭环。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67712"/>
            <a:ext cx="475488" cy="475488"/>
          </a:xfrm>
          <a:prstGeom prst="roundRect">
            <a:avLst/>
          </a:prstGeom>
          <a:solidFill>
            <a:srgbClr val="0F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2249424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多工具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258568"/>
            <a:ext cx="74980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CD3C6"/>
                </a:solidFill>
                <a:latin typeface="Microsoft YaHei"/>
              </a:rPr>
              <a:t>12 个交通数据工具统一注册、统一调度、统一返回。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145536"/>
            <a:ext cx="475488" cy="475488"/>
          </a:xfrm>
          <a:prstGeom prst="roundRect">
            <a:avLst/>
          </a:prstGeom>
          <a:solidFill>
            <a:srgbClr val="0F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09544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127248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知识与数据结合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136392"/>
            <a:ext cx="74980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CD3C6"/>
                </a:solidFill>
                <a:latin typeface="Microsoft YaHei"/>
              </a:rPr>
              <a:t>实时仿真数据与交通规范 RAG 联合研判。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23360"/>
            <a:ext cx="475488" cy="475488"/>
          </a:xfrm>
          <a:prstGeom prst="roundRect">
            <a:avLst/>
          </a:prstGeom>
          <a:solidFill>
            <a:srgbClr val="0F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087368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4005072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一屏指挥体验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014216"/>
            <a:ext cx="74980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CD3C6"/>
                </a:solidFill>
                <a:latin typeface="Microsoft YaHei"/>
              </a:rPr>
              <a:t>四个固定视图、高对比中控布局和独立 Agent 面板。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901183"/>
            <a:ext cx="475488" cy="475488"/>
          </a:xfrm>
          <a:prstGeom prst="roundRect">
            <a:avLst/>
          </a:prstGeom>
          <a:solidFill>
            <a:srgbClr val="0F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965192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882896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自动报表输出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892040"/>
            <a:ext cx="74980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CD3C6"/>
                </a:solidFill>
                <a:latin typeface="Microsoft YaHei"/>
              </a:rPr>
              <a:t>表格、图表和 CSV 一键生成，支持比赛现场展示。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6035040"/>
            <a:ext cx="2560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0F9164"/>
                </a:solidFill>
                <a:latin typeface="Microsoft YaHei"/>
              </a:rPr>
              <a:t>谢谢评审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